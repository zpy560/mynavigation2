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对比结论：本项目主要优势是软件架构、算法扩展及任务覆盖能力，不能据此推断绝对精度或安全等级优势。</a:t>
            </a:r>
          </a:p>
          <a:p>
            <a:r>
              <a:t>传统侧为典型单一固定路径系统的抽象比较，并非特定厂商产品审计；传统 AGV 也可以实现分层、防护、S 曲线和高精度。</a:t>
            </a:r>
          </a:p>
          <a:p>
            <a:r>
              <a:t>源码依据（相对 nav2_demo 根目录）：</a:t>
            </a:r>
          </a:p>
          <a:p>
            <a:r>
              <a:t>nav2_ws/src/navigation2/nav2_regulated_modules/params/regulated_modules.yaml：14-174 规划插件；197-245 模式与算法选择；336-787 控制插件；890-929 闭环100 Hz平滑及jerk约束。</a:t>
            </a:r>
          </a:p>
          <a:p>
            <a:r>
              <a:t>nav2_ws/src/navigation2/nav2_regulated_modules/launch/regulated_modules.launch.py：196-200 use_collision_monitor 默认 false；238-242 三模式参数。</a:t>
            </a:r>
          </a:p>
          <a:p>
            <a:r>
              <a:t>nav2_ws/src/navigation2/nav2_regulated_modules/src/navigator_planning.cpp：自主模式规划、异步任务代次过滤。</a:t>
            </a:r>
          </a:p>
          <a:p>
            <a:r>
              <a:t>nav2_ws/src/navigation2/nav2_regulated_modules/src/navigator_fixed_path.cpp：固定路径服务与路径准备。</a:t>
            </a:r>
          </a:p>
          <a:p>
            <a:r>
              <a:t>nav2_ws/src/navigation2/nav2_regulated_modules/src/fixed_path_controller.cpp：跟踪、制动、终点停车与 pluginlib 注册。</a:t>
            </a:r>
          </a:p>
          <a:p>
            <a:r>
              <a:t>nav2_ws/src/navigation2/nav2_velocity_smoother/src/velocity_smoother.cpp：闭环反馈、S曲线与加速度/jerk约束。</a:t>
            </a:r>
          </a:p>
          <a:p>
            <a:r>
              <a:t>ROADMAP.md 当前阶段与进行中：仿真、定向测试已有记录；10 mm为地图定位误差，不代表真实物理精度；全档位停车精度尚有失败，实车未完整验收。</a:t>
            </a:r>
          </a:p>
          <a:p>
            <a:r>
              <a:t>本次只核对源码和现有报告，没有启动机器人或重新运行仿真。Nav2 框架具备行为树扩展能力，但本项目本页描述的是自定义 regulated_navigator，不声称业务编排已使用行为树。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1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7F77"/>
                </a:solidFill>
                <a:latin typeface="Noto Sans CJK SC"/>
              </a:defRPr>
            </a:pPr>
            <a:r>
              <a:t>NAV2  /  AGV 运动控制架构对比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3533120" cy="59436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72B46"/>
                </a:solidFill>
                <a:latin typeface="Noto Sans CJK SC"/>
              </a:defRPr>
            </a:pPr>
            <a:r>
              <a:t>从单一固定路径控制，升级为可扩展的导航与运控平台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3533120" cy="41148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3667E"/>
                </a:solidFill>
                <a:latin typeface="Noto Sans CJK SC"/>
              </a:defRPr>
            </a:pPr>
            <a:r>
              <a:t>核心优势：分层解耦  ·  插件化算法  ·  多模式复用，保留固定路径业务并支持自主导航扩展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737360" cy="47548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03704"/>
            <a:ext cx="1517904" cy="36576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对比维度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48840"/>
            <a:ext cx="3429000" cy="47548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2203704"/>
            <a:ext cx="3209544" cy="36576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传统单一固定路径 AGV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148840"/>
            <a:ext cx="5532120" cy="47548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4728" y="2203704"/>
            <a:ext cx="5312664" cy="36576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本项目 Nav2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0" y="2148840"/>
            <a:ext cx="2834640" cy="47548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56848" y="2203704"/>
            <a:ext cx="2615184" cy="36576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带来的价值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24328"/>
            <a:ext cx="1737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15768"/>
            <a:ext cx="151790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2B46"/>
                </a:solidFill>
                <a:latin typeface="Noto Sans CJK SC"/>
              </a:defRPr>
            </a:pPr>
            <a:r>
              <a:t>架构组织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624328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2715768"/>
            <a:ext cx="320954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给定路线 → 跟踪控制 → 底盘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任务、控制与设备适配往往耦合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624328"/>
            <a:ext cx="5532120" cy="713232"/>
          </a:xfrm>
          <a:prstGeom prst="rect">
            <a:avLst/>
          </a:prstGeom>
          <a:solidFill>
            <a:srgbClr val="E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8" y="2715768"/>
            <a:ext cx="531266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规控任务编排 + 独立规划／控制／平滑服务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ROS 2 Action、生命周期与标准接口连接模块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47120" y="2624328"/>
            <a:ext cx="2834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56848" y="2715768"/>
            <a:ext cx="261518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模块可独立替换</a:t>
            </a:r>
          </a:p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降低改动连带影响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1737360" cy="71323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29000"/>
            <a:ext cx="151790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2B46"/>
                </a:solidFill>
                <a:latin typeface="Noto Sans CJK SC"/>
              </a:defRPr>
            </a:pPr>
            <a:r>
              <a:t>算法扩展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337560"/>
            <a:ext cx="3429000" cy="71323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5728" y="3429000"/>
            <a:ext cx="320954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围绕既有跟踪器调参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更换策略常需修改主流程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3337560"/>
            <a:ext cx="5532120" cy="713232"/>
          </a:xfrm>
          <a:prstGeom prst="rect">
            <a:avLst/>
          </a:prstGeom>
          <a:solidFill>
            <a:srgbClr val="E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3429000"/>
            <a:ext cx="531266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插件选择：NavFn／Smac；RPP／DWB／MPPI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可接入自定义规划器、Controller 与目标检查器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47120" y="3337560"/>
            <a:ext cx="2834640" cy="71323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56848" y="3429000"/>
            <a:ext cx="261518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按场景选择算法</a:t>
            </a:r>
          </a:p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便于对比和迭代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50791"/>
            <a:ext cx="1737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142231"/>
            <a:ext cx="151790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2B46"/>
                </a:solidFill>
                <a:latin typeface="Noto Sans CJK SC"/>
              </a:defRPr>
            </a:pPr>
            <a:r>
              <a:t>业务扩展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050791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95728" y="4142231"/>
            <a:ext cx="320954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主要执行预设路线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绕行与自由目标需额外开发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4050791"/>
            <a:ext cx="5532120" cy="713232"/>
          </a:xfrm>
          <a:prstGeom prst="rect">
            <a:avLst/>
          </a:prstGeom>
          <a:solidFill>
            <a:srgbClr val="E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4142231"/>
            <a:ext cx="531266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fixed_path／autonomous／remote 三种启动模式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固定路径直达跟踪；自主模式支持规划与重规划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47120" y="4050791"/>
            <a:ext cx="2834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56848" y="4142231"/>
            <a:ext cx="261518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复用同一运控底座</a:t>
            </a:r>
          </a:p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覆盖更多任务场景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764024"/>
            <a:ext cx="1737360" cy="71323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855464"/>
            <a:ext cx="151790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2B46"/>
                </a:solidFill>
                <a:latin typeface="Noto Sans CJK SC"/>
              </a:defRPr>
            </a:pPr>
            <a:r>
              <a:t>控制与防护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4764024"/>
            <a:ext cx="3429000" cy="71323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95728" y="4855464"/>
            <a:ext cx="320954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速度、制动和障碍响应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通常随专用控制逻辑实现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64024"/>
            <a:ext cx="5532120" cy="713232"/>
          </a:xfrm>
          <a:prstGeom prst="rect">
            <a:avLst/>
          </a:prstGeom>
          <a:solidFill>
            <a:srgbClr val="E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24728" y="4855464"/>
            <a:ext cx="531266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固定路径专用控制器 + 闭环速度平滑 + S 曲线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Collision Monitor 可选，感知防护独立接入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47120" y="4764024"/>
            <a:ext cx="2834640" cy="71323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56848" y="4855464"/>
            <a:ext cx="261518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控制与防护分层</a:t>
            </a:r>
          </a:p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便于单独调参与扩展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477256"/>
            <a:ext cx="1737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568696"/>
            <a:ext cx="151790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2B46"/>
                </a:solidFill>
                <a:latin typeface="Noto Sans CJK SC"/>
              </a:defRPr>
            </a:pPr>
            <a:r>
              <a:t>工程与验证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5477256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95728" y="5568696"/>
            <a:ext cx="320954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专用接口与现场调试为主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验证体系取决于厂商实现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0" y="5477256"/>
            <a:ext cx="5532120" cy="713232"/>
          </a:xfrm>
          <a:prstGeom prst="rect">
            <a:avLst/>
          </a:prstGeom>
          <a:solidFill>
            <a:srgbClr val="E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24728" y="5568696"/>
            <a:ext cx="531266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Action 反馈／取消、TF、日志与 RViz 可视化</a:t>
            </a:r>
          </a:p>
          <a:p>
            <a:pPr>
              <a:spcAft>
                <a:spcPts val="400"/>
              </a:spcAft>
              <a:defRPr sz="1600" b="0">
                <a:solidFill>
                  <a:srgbClr val="172B46"/>
                </a:solidFill>
                <a:latin typeface="Noto Sans CJK SC"/>
              </a:defRPr>
            </a:pPr>
            <a:r>
              <a:t>已有定向测试与 Gazebo 仿真验证记录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247120" y="5477256"/>
            <a:ext cx="2834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56848" y="5568696"/>
            <a:ext cx="2615184" cy="566928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状态更易观测</a:t>
            </a:r>
          </a:p>
          <a:p>
            <a:pPr>
              <a:spcAft>
                <a:spcPts val="400"/>
              </a:spcAft>
              <a:defRPr sz="1600" b="1">
                <a:solidFill>
                  <a:srgbClr val="087F77"/>
                </a:solidFill>
                <a:latin typeface="Noto Sans CJK SC"/>
              </a:defRPr>
            </a:pPr>
            <a:r>
              <a:t>方便定位问题与回归验证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419088"/>
            <a:ext cx="13533120" cy="758952"/>
          </a:xfrm>
          <a:prstGeom prst="round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556248"/>
            <a:ext cx="2834640" cy="36576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7E0CF"/>
                </a:solidFill>
                <a:latin typeface="Noto Sans CJK SC"/>
              </a:defRPr>
            </a:pPr>
            <a:r>
              <a:t>架构主线  /  分层可替换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510528"/>
            <a:ext cx="10149840" cy="54864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任务编排 → 规划／路径输入 → 控制插件 → 速度平滑 → 底盘适配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自主模式使用规划；固定路径模式跳过规划与路径平滑。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7351775"/>
            <a:ext cx="13624560" cy="548640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3667E"/>
                </a:solidFill>
                <a:latin typeface="Noto Sans CJK SC"/>
              </a:defRPr>
            </a:pPr>
            <a:r>
              <a:t>比较口径：传统侧指“仅执行预设路径的典型系统”，不代表所有 AGV。插件配置不等于逐一完成运行验收。</a:t>
            </a:r>
          </a:p>
          <a:p>
            <a:pPr>
              <a:spcAft>
                <a:spcPts val="400"/>
              </a:spcAft>
              <a:defRPr sz="1200" b="0">
                <a:solidFill>
                  <a:srgbClr val="53667E"/>
                </a:solidFill>
                <a:latin typeface="Noto Sans CJK SC"/>
              </a:defRPr>
            </a:pPr>
            <a:r>
              <a:t>能力边界：固定路径不自动绕障；Collision Monitor 启动默认关闭；实车精度、稳定性与安全性能仍待验收。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7955279"/>
            <a:ext cx="13533120" cy="210312"/>
          </a:xfrm>
          <a:prstGeom prst="rect">
            <a:avLst/>
          </a:prstGeom>
          <a:noFill/>
        </p:spPr>
        <p:txBody>
          <a:bodyPr wrap="square" lIns="27432" rIns="27432" tIns="2286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18298"/>
                </a:solidFill>
                <a:latin typeface="Noto Sans CJK SC"/>
              </a:defRPr>
            </a:pPr>
            <a:r>
              <a:t>依据：本地 regulated_modules.yaml、regulated_modules.launch.py、规控源码及 ROADMAP.md；详细路径见本页备注。  |  2026-10-10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